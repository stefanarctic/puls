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Top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BrandLogo" descr="Ne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841248" cy="841248"/>
          </a:xfrm>
          <a:prstGeom prst="rect">
            <a:avLst/>
          </a:prstGeom>
        </p:spPr>
      </p:pic>
      <p:sp>
        <p:nvSpPr>
          <p:cNvPr id="5" name="DeckTitleMain"/>
          <p:cNvSpPr txBox="1"/>
          <p:nvPr/>
        </p:nvSpPr>
        <p:spPr>
          <a:xfrm>
            <a:off x="1078992" y="201168"/>
            <a:ext cx="1091153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P.U.L.S.</a:t>
            </a:r>
          </a:p>
          <a:p>
            <a:pPr>
              <a:spcBef>
                <a:spcPts val="200"/>
              </a:spcBef>
              <a:defRPr sz="1300">
                <a:solidFill>
                  <a:srgbClr val="CBD5F5"/>
                </a:solidFill>
              </a:defRPr>
            </a:pPr>
            <a:r>
              <a:t>Simulări · Bac · Resurse · Asistent AI — în același loc</a:t>
            </a:r>
          </a:p>
          <a:p>
            <a:pPr>
              <a:spcBef>
                <a:spcPts val="1200"/>
              </a:spcBef>
              <a:defRPr sz="1400" b="1">
                <a:solidFill>
                  <a:srgbClr val="C4B5FD"/>
                </a:solidFill>
              </a:defRPr>
            </a:pPr>
            <a:r>
              <a:t>https://puls-fizica.ro</a:t>
            </a:r>
          </a:p>
        </p:txBody>
      </p:sp>
      <p:pic>
        <p:nvPicPr>
          <p:cNvPr id="6" name="TitleHeroShot" descr="Laser_Simulator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82496"/>
            <a:ext cx="11423599" cy="4828032"/>
          </a:xfrm>
          <a:prstGeom prst="rect">
            <a:avLst/>
          </a:prstGeom>
        </p:spPr>
      </p:pic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Ansamblu — ce înglobează site-ul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Peste 50 simulări cu rută dedicată și filtre în catalog.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Probleme + BAC + grile pe același cont; progres în cloud.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Resurse /resurse pe capitole și avatar AI oriunde în SPA.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Profil, realizări, comunitate; spațiu profesor–clasă.</a:t>
            </a:r>
          </a:p>
        </p:txBody>
      </p:sp>
      <p:pic>
        <p:nvPicPr>
          <p:cNvPr id="6" name="SlidePhotoMain" descr="Pendule_Multipl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Pendule clasice și neliniare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Simplu, amortizat, neliniar, pendule Multiple → compară perioada.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Grafice live legate clar de curricula de oscilații.</a:t>
            </a:r>
          </a:p>
        </p:txBody>
      </p:sp>
      <p:pic>
        <p:nvPicPr>
          <p:cNvPr id="6" name="SlidePhotoMain" descr="Simplu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74420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Oscilații 1D și vizual grafică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OX / OY: amplitudine, fază pentru legături cu onde și bac.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Construiești intuiția înaintea fig. Lissajous.</a:t>
            </a:r>
          </a:p>
        </p:txBody>
      </p:sp>
      <p:pic>
        <p:nvPicPr>
          <p:cNvPr id="6" name="SlidePhotoMain" descr="Oscilatieox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686167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Unde — propagare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Fronturi de unde, viteză λ-f; exemple din medii diverse.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Leagă teoria capitole Unde în /resurse de laborator vizual.</a:t>
            </a:r>
          </a:p>
        </p:txBody>
      </p:sp>
      <p:pic>
        <p:nvPicPr>
          <p:cNvPr id="6" name="SlidePhotoMain" descr="Und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95671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Figuri Lissajous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Raport frecvențe + defazaj → traiectorii clasice liceu.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Ideal pentru itemi concurs și reprezentări bac.</a:t>
            </a:r>
          </a:p>
        </p:txBody>
      </p:sp>
      <p:pic>
        <p:nvPicPr>
          <p:cNvPr id="6" name="SlidePhotoMain" descr="Lissajous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92777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Seismologie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Propagare seismică și răspuns structural simplificat vizual.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Context geofizică fără a părăsi browserul.</a:t>
            </a:r>
          </a:p>
        </p:txBody>
      </p:sp>
      <p:pic>
        <p:nvPicPr>
          <p:cNvPr id="6" name="SlidePhotoMain" descr="Seism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88876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Termodinamică — gaze și transformări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Simulator gaz ideal și diagrame stare.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Baza pentru bac terminologie PV, lucru căldură.</a:t>
            </a:r>
          </a:p>
        </p:txBody>
      </p:sp>
      <p:pic>
        <p:nvPicPr>
          <p:cNvPr id="6" name="SlidePhotoMain" descr="Termodinamica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571244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Motoare termice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Otto, Diesel, Carnot comparate vizual pe același ecran.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Formule bac + ciclu sincron între curs și sim.</a:t>
            </a:r>
          </a:p>
        </p:txBody>
      </p:sp>
      <p:pic>
        <p:nvPicPr>
          <p:cNvPr id="6" name="SlidePhotoMain" descr="Motoare_Termic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Mecanică — proiectile, plan înclinat, coliziuni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Proiectile parabolice parametrizabile.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Plan înclinat + coliziuni inelastice pentru mecanica liceu.</a:t>
            </a:r>
          </a:p>
        </p:txBody>
      </p:sp>
      <p:pic>
        <p:nvPicPr>
          <p:cNvPr id="6" name="SlidePhotoMain" descr="Proiectil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Termodinamică aplicată &amp; transport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„Frecare aer’’ și exemple legate energeticii fluide fenomenologic.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Susține explicația consumului rezistiv/atmosferă.</a:t>
            </a:r>
          </a:p>
        </p:txBody>
      </p:sp>
      <p:pic>
        <p:nvPicPr>
          <p:cNvPr id="6" name="SlidePhotoMain" descr="Frecare_Ae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065253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Optică — prismă, lentile, refracție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Prisme, lentilă subțire, refracție atmosferică pentru geometria raze.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Reflexie–refracție în același modul grafic liceu.</a:t>
            </a:r>
          </a:p>
        </p:txBody>
      </p:sp>
      <p:pic>
        <p:nvPicPr>
          <p:cNvPr id="6" name="SlidePhotoMain" descr="Prisma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3951561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Lasere — propagare cavitate și fascicule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Simulator dedicat geometrie optică stimulated emission.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Include variante grafice pentru emisie colimată liceu-modern.</a:t>
            </a:r>
          </a:p>
        </p:txBody>
      </p:sp>
      <p:pic>
        <p:nvPicPr>
          <p:cNvPr id="6" name="SlidePhotoMain" descr="Laser_Simulato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775208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Laseri mari — ELI‑NP și accelerator fotonic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Vizualizări infrastructură de tip ELI‑NP pentru context research.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„Accelerator laser’’ — articularea dintre liceu și fotonica actuală.</a:t>
            </a:r>
          </a:p>
        </p:txBody>
      </p:sp>
      <p:pic>
        <p:nvPicPr>
          <p:cNvPr id="6" name="SlidePhotoMain" descr="Eli_Np_Lase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775208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Electricitate &amp; Kirchhoff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Montaje liceu: serie paralel energetici.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Kirchhoff explicit pentru bac electricitate continuă.</a:t>
            </a:r>
          </a:p>
        </p:txBody>
      </p:sp>
      <p:pic>
        <p:nvPicPr>
          <p:cNvPr id="6" name="SlidePhotoMain" descr="Circuite_Electricitat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Curent alternativ &amp; spectru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Oscilații sinusoidale parametrizabile și valorile RMS vizibile.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Spectrul electromagnetic interactiv pentru lecție interdisciplinară.</a:t>
            </a:r>
          </a:p>
        </p:txBody>
      </p:sp>
      <p:pic>
        <p:nvPicPr>
          <p:cNvPr id="6" name="SlidePhotoMain" descr="ac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1812693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Interferență &amp; exemple cuantice fenomenologice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Dublă fantă clasic experiment gând.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Tunel cuantic pentru probabilistic intuitiv liceu-modern.</a:t>
            </a:r>
          </a:p>
        </p:txBody>
      </p:sp>
      <p:pic>
        <p:nvPicPr>
          <p:cNvPr id="6" name="SlidePhotoMain" descr="dubla_fanta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346964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Matematică pe grafici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Grafici funcție + pendul derivat pentru legături analiză liceu.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Verificarea numerică paralelă rezolvărilor clasice.</a:t>
            </a:r>
          </a:p>
        </p:txBody>
      </p:sp>
      <p:pic>
        <p:nvPicPr>
          <p:cNvPr id="6" name="SlidePhotoMain" descr="Grafice_Basic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114958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Michelson și fizica relativității (intro)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Interferometru istoric prezent grafic liceu-modern.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Leagă undă lumină și experiența remarcabilă din manual.</a:t>
            </a:r>
          </a:p>
        </p:txBody>
      </p:sp>
      <p:pic>
        <p:nvPicPr>
          <p:cNvPr id="6" name="SlidePhotoMain" descr="Michaelson_Morley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Astronomie &amp; Kepler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Orbită și legile Kepler + constelații pentru capitol astro.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Curriculum integrat liceu între cinematică și astro.</a:t>
            </a:r>
          </a:p>
        </p:txBody>
      </p:sp>
      <p:pic>
        <p:nvPicPr>
          <p:cNvPr id="6" name="SlidePhotoMain" descr="Miscare_Planet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66711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Atom, tabel periodic, legături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Hidrogen, tabloul periodic interactiv și legături atomice.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Pod între curs chimie și fizica atomică.</a:t>
            </a:r>
          </a:p>
        </p:txBody>
      </p:sp>
      <p:pic>
        <p:nvPicPr>
          <p:cNvPr id="6" name="SlidePhotoMain" descr="Atom_Hidroge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Energie nucleară &amp; izotopi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Fisiune vizual și reactoare educaționale; fuziune D–T.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Familii de izotopi uraniu + catalog complet izotopi educativ.</a:t>
            </a:r>
          </a:p>
        </p:txBody>
      </p:sp>
      <p:pic>
        <p:nvPicPr>
          <p:cNvPr id="6" name="SlidePhotoMain" descr="Fisiune_Nucleara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Apă grea &amp; proces industrial lejer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Model schimb izotopic și apă grea.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Distilație fracționată prezentată ca resursă vizual tehnic.</a:t>
            </a:r>
          </a:p>
        </p:txBody>
      </p:sp>
      <p:pic>
        <p:nvPicPr>
          <p:cNvPr id="6" name="SlidePhotoMain" descr="apa_gre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3969265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Hidrogen criogenic &amp; supraconductibilitate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Criogenie, supraconductivitate, celule combustibil illustrative.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Extinde platforma spre tehnică de laborator avansată.</a:t>
            </a:r>
          </a:p>
        </p:txBody>
      </p:sp>
      <p:pic>
        <p:nvPicPr>
          <p:cNvPr id="6" name="SlidePhotoMain" descr="Criogeni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Probleme, BAC și grile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Catalog filtrabil; pagini /probleme/:id rezolvabile.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Secțiuni /probleme/bac și /probleme/grile pentru repetare eficientă.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Feedback automat + API Puls AI pentru fizică pe înțeles.</a:t>
            </a:r>
          </a:p>
        </p:txBody>
      </p:sp>
      <p:pic>
        <p:nvPicPr>
          <p:cNvPr id="6" name="SlidePhotoMain" descr="Prisma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3951561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Resurse capitole multimedia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/resurse + subrute capitole Pendule→Lasere→Nuclear.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Embed video/MathJax oriunde apare teoria textuală.</a:t>
            </a:r>
          </a:p>
        </p:txBody>
      </p:sp>
      <p:pic>
        <p:nvPicPr>
          <p:cNvPr id="6" name="SlidePhotoMain" descr="Constelati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1205423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Asistent AI și Puls AI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Avatar Three.js oriunde navighezi; flux n8n + context site.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Puls AI separat pentru rezolvări BAC și audit teme fizică.</a:t>
            </a:r>
          </a:p>
        </p:txBody>
      </p:sp>
      <p:pic>
        <p:nvPicPr>
          <p:cNvPr id="6" name="SlidePhotoMain" descr="Vizualizator_4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885952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Gamificare, profil și comunitate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Badge-uri, statistici, profil /profil/:alias dacă vizibil.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/comunitate pentru socializarea progresului educațional.</a:t>
            </a:r>
          </a:p>
        </p:txBody>
      </p:sp>
      <p:pic>
        <p:nvPicPr>
          <p:cNvPr id="6" name="SlidePhotoMain" descr="Grafice_Basic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114958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Profesor, clase și admin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/profesor dashboard + clase; elevi intra cu cod/link.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/admin pentru întreținere conținut (Firebase roles).</a:t>
            </a:r>
          </a:p>
        </p:txBody>
      </p:sp>
      <p:pic>
        <p:nvPicPr>
          <p:cNvPr id="6" name="SlidePhotoMain" descr="Grafice_Basic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114958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Limbi și experiență UI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RO + EN pentru public internațional și diaspora.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Dark/light, căutare, layout responsive pentru telefon liceu.</a:t>
            </a:r>
          </a:p>
        </p:txBody>
      </p:sp>
      <p:pic>
        <p:nvPicPr>
          <p:cNvPr id="6" name="SlidePhotoMain" descr="Grafice_Basic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114958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Arhitectură tehnică (rezumat)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React 19, Vite, SCSS modular, Redux toolkit.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Firebase datastore; CDN imagini Cloudinary/ImageKit;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Vercel deploy; automatizare n8n + Groq Llama pentru chat.</a:t>
            </a:r>
          </a:p>
        </p:txBody>
      </p:sp>
      <p:pic>
        <p:nvPicPr>
          <p:cNvPr id="6" name="SlidePhotoMain" descr="kirchoff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885417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Slide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Heading"/>
          <p:cNvSpPr txBox="1"/>
          <p:nvPr/>
        </p:nvSpPr>
        <p:spPr>
          <a:xfrm>
            <a:off x="411480" y="182880"/>
            <a:ext cx="11368735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Concluzie</a:t>
            </a:r>
          </a:p>
        </p:txBody>
      </p:sp>
      <p:sp>
        <p:nvSpPr>
          <p:cNvPr id="5" name="BulletStack"/>
          <p:cNvSpPr txBox="1"/>
          <p:nvPr/>
        </p:nvSpPr>
        <p:spPr>
          <a:xfrm>
            <a:off x="384048" y="987552"/>
            <a:ext cx="6080760" cy="5669280"/>
          </a:xfrm>
          <a:prstGeom prst="rect">
            <a:avLst/>
          </a:prstGeom>
          <a:noFill/>
        </p:spPr>
        <p:txBody>
          <a:bodyPr wrap="square" anchor="t" lIns="50800" rIns="76200">
            <a:no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PULS livrează tot parcursul: vizual → teorie → practică bac.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Echipă liceu ghidată; mentori fizică pentru corectitudine științifică.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Descoperă, experimentează, pulsul fascinant al științei!</a:t>
            </a:r>
          </a:p>
        </p:txBody>
      </p:sp>
      <p:pic>
        <p:nvPicPr>
          <p:cNvPr id="6" name="SlidePhotoMain" descr="Lissajous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60120"/>
            <a:ext cx="10927770" cy="4983480"/>
          </a:xfrm>
          <a:prstGeom prst="rect">
            <a:avLst/>
          </a:prstGeom>
        </p:spPr>
      </p:pic>
      <p:sp>
        <p:nvSpPr>
          <p:cNvPr id="7" name="SlidePhotoAccent"/>
          <p:cNvSpPr/>
          <p:nvPr/>
        </p:nvSpPr>
        <p:spPr>
          <a:xfrm>
            <a:off x="6446520" y="841248"/>
            <a:ext cx="5632704" cy="5230368"/>
          </a:xfrm>
          <a:prstGeom prst="roundRect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Întrebări?</a:t>
            </a:r>
          </a:p>
        </p:txBody>
      </p:sp>
    </p:spTree>
  </p:cSld>
  <p:clrMapOvr>
    <a:masterClrMapping/>
  </p:clrMapOvr>
  <p:transition spd="med">
    <p14:morph xmlns:p14="http://schemas.microsoft.com/office/powerpoint/2010/main" option="true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